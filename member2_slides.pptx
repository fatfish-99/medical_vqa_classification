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
  
  
  
  
  <Relationship Id="rId1" Type="http://schemas.openxmlformats.org/officeDocument/2006/relationships/officeDocument" Target="ppt/presentation.xml"/>
  
  


</Relationships>
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9" r:id="rId27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
<Relationships xmlns="http://schemas.openxmlformats.org/package/2006/relationships">
  
  
  
  
  <Relationship Id="rId20" Type="http://schemas.openxmlformats.org/officeDocument/2006/relationships/font" Target="fonts/UrbanistMedium-bold.fntdata"/>
  
  
  
  
  <Relationship Id="rId22" Type="http://schemas.openxmlformats.org/officeDocument/2006/relationships/font" Target="fonts/UrbanistMedium-boldItalic.fntdata"/>
  
  
  
  
  <Relationship Id="rId21" Type="http://schemas.openxmlformats.org/officeDocument/2006/relationships/font" Target="fonts/UrbanistMedium-italic.fntdata"/>
  
  
  
  
  <Relationship Id="rId24" Type="http://schemas.openxmlformats.org/officeDocument/2006/relationships/font" Target="fonts/Urbanist-bold.fntdata"/>
  
  
  
  
  <Relationship Id="rId23" Type="http://schemas.openxmlformats.org/officeDocument/2006/relationships/font" Target="fonts/Urbanist-regular.fntdata"/>
  
  
  
  
  <Relationship Id="rId1" Type="http://schemas.openxmlformats.org/officeDocument/2006/relationships/theme" Target="theme/theme2.xml"/>
  
  
  
  
  <Relationship Id="rId2" Type="http://schemas.openxmlformats.org/officeDocument/2006/relationships/viewProps" Target="viewProps.xml"/>
  
  
  
  
  <Relationship Id="rId3" Type="http://schemas.openxmlformats.org/officeDocument/2006/relationships/presProps" Target="presProps.xml"/>
  
  
  
  
  <Relationship Id="rId4" Type="http://schemas.openxmlformats.org/officeDocument/2006/relationships/slideMaster" Target="slideMasters/slideMaster1.xml"/>
  
  
  
  
  <Relationship Id="rId9" Type="http://schemas.openxmlformats.org/officeDocument/2006/relationships/slide" Target="slides/slide4.xml"/>
  
  
  
  
  <Relationship Id="rId26" Type="http://schemas.openxmlformats.org/officeDocument/2006/relationships/font" Target="fonts/Urbanist-boldItalic.fntdata"/>
  
  
  
  
  <Relationship Id="rId25" Type="http://schemas.openxmlformats.org/officeDocument/2006/relationships/font" Target="fonts/Urbanist-italic.fntdata"/>
  
  
  
  
  <Relationship Id="rId5" Type="http://schemas.openxmlformats.org/officeDocument/2006/relationships/notesMaster" Target="notesMasters/notesMaster1.xml"/>
  
  
  
  
  <Relationship Id="rId6" Type="http://schemas.openxmlformats.org/officeDocument/2006/relationships/slide" Target="slides/slide1.xml"/>
  
  
  
  
  <Relationship Id="rId7" Type="http://schemas.openxmlformats.org/officeDocument/2006/relationships/slide" Target="slides/slide2.xml"/>
  
  
  
  
  <Relationship Id="rId8" Type="http://schemas.openxmlformats.org/officeDocument/2006/relationships/slide" Target="slides/slide3.xml"/>
  
  
  
  
  <Relationship Id="rId11" Type="http://schemas.openxmlformats.org/officeDocument/2006/relationships/slide" Target="slides/slide6.xml"/>
  
  
  
  
  <Relationship Id="rId10" Type="http://schemas.openxmlformats.org/officeDocument/2006/relationships/slide" Target="slides/slide5.xml"/>
  
  
  
  
  <Relationship Id="rId13" Type="http://schemas.openxmlformats.org/officeDocument/2006/relationships/slide" Target="slides/slide8.xml"/>
  
  
  
  
  <Relationship Id="rId12" Type="http://schemas.openxmlformats.org/officeDocument/2006/relationships/slide" Target="slides/slide7.xml"/>
  
  
  
  
  <Relationship Id="rId15" Type="http://schemas.openxmlformats.org/officeDocument/2006/relationships/slide" Target="slides/slide10.xml"/>
  
  
  
  
  <Relationship Id="rId14" Type="http://schemas.openxmlformats.org/officeDocument/2006/relationships/slide" Target="slides/slide9.xml"/>
  
  
  
  
  <Relationship Id="rId17" Type="http://schemas.openxmlformats.org/officeDocument/2006/relationships/slide" Target="slides/slide12.xml"/>
  
  
  
  
  <Relationship Id="rId16" Type="http://schemas.openxmlformats.org/officeDocument/2006/relationships/slide" Target="slides/slide11.xml"/>
  
  
  
  
  <Relationship Id="rId19" Type="http://schemas.openxmlformats.org/officeDocument/2006/relationships/font" Target="fonts/UrbanistMedium-regular.fntdata"/>
  
  
  
  
  <Relationship Id="rId18" Type="http://schemas.openxmlformats.org/officeDocument/2006/relationships/slide" Target="slides/slide13.xml"/>
  
  

  
  <Relationship Id="rId27" Type="http://schemas.openxmlformats.org/officeDocument/2006/relationships/slide" Target="slides/slide14.xml"/>
  

</Relationships>

</file>

<file path=ppt/notesMasters/_rels/notesMaster1.xml.rels><?xml version="1.0" encoding="utf-8"?>
<Relationships xmlns="http://schemas.openxmlformats.org/package/2006/relationships">
  
  
  
  
  <Relationship Id="rId1" Type="http://schemas.openxmlformats.org/officeDocument/2006/relationships/theme" Target="../theme/theme1.xml"/>
  
  


</Relationships>
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2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3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4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5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6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7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8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9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10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11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12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_rels/notesSlide13.xml.rels><?xml version="1.0" encoding="utf-8"?>
<Relationships xmlns="http://schemas.openxmlformats.org/package/2006/relationships">
  
  
  
  
  <Relationship Id="rId1" Type="http://schemas.openxmlformats.org/officeDocument/2006/relationships/notesMaster" Target="../notesMasters/notesMaster1.xml"/>
  
  


</Relationships>
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2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3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4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5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6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7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8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9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10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_rels/slideLayout11.xml.rels><?xml version="1.0" encoding="utf-8"?>
<Relationships xmlns="http://schemas.openxmlformats.org/package/2006/relationships">
  
  
  
  
  <Relationship Id="rId1" Type="http://schemas.openxmlformats.org/officeDocument/2006/relationships/slideMaster" Target="../slideMasters/slideMaster1.xml"/>
  
  


</Relationships>
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slideLayout" Target="../slideLayouts/slideLayout2.xml"/>
  
  
  
  
  <Relationship Id="rId3" Type="http://schemas.openxmlformats.org/officeDocument/2006/relationships/slideLayout" Target="../slideLayouts/slideLayout3.xml"/>
  
  
  
  
  <Relationship Id="rId4" Type="http://schemas.openxmlformats.org/officeDocument/2006/relationships/slideLayout" Target="../slideLayouts/slideLayout4.xml"/>
  
  
  
  
  <Relationship Id="rId11" Type="http://schemas.openxmlformats.org/officeDocument/2006/relationships/slideLayout" Target="../slideLayouts/slideLayout11.xml"/>
  
  
  
  
  <Relationship Id="rId10" Type="http://schemas.openxmlformats.org/officeDocument/2006/relationships/slideLayout" Target="../slideLayouts/slideLayout10.xml"/>
  
  
  
  
  <Relationship Id="rId12" Type="http://schemas.openxmlformats.org/officeDocument/2006/relationships/theme" Target="../theme/theme2.xml"/>
  
  
  
  
  <Relationship Id="rId9" Type="http://schemas.openxmlformats.org/officeDocument/2006/relationships/slideLayout" Target="../slideLayouts/slideLayout9.xml"/>
  
  
  
  
  <Relationship Id="rId5" Type="http://schemas.openxmlformats.org/officeDocument/2006/relationships/slideLayout" Target="../slideLayouts/slideLayout5.xml"/>
  
  
  
  
  <Relationship Id="rId6" Type="http://schemas.openxmlformats.org/officeDocument/2006/relationships/slideLayout" Target="../slideLayouts/slideLayout6.xml"/>
  
  
  
  
  <Relationship Id="rId7" Type="http://schemas.openxmlformats.org/officeDocument/2006/relationships/slideLayout" Target="../slideLayouts/slideLayout7.xml"/>
  
  
  
  
  <Relationship Id="rId8" Type="http://schemas.openxmlformats.org/officeDocument/2006/relationships/slideLayout" Target="../slideLayouts/slideLayout8.xml"/>
  
  


</Relationships>
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1.xml"/>
  
  
  
  
  <Relationship Id="rId3" Type="http://schemas.openxmlformats.org/officeDocument/2006/relationships/image" Target="../media/image1.png"/>
  
  


</Relationships>

</file>

<file path=ppt/slides/_rels/slide2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2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8.png"/>
  
  


</Relationships>

</file>

<file path=ppt/slides/_rels/slide3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3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8.png"/>
  
  


</Relationships>

</file>

<file path=ppt/slides/_rels/slide4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4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2.png"/>
  
  
  
  
  <Relationship Id="rId5" Type="http://schemas.openxmlformats.org/officeDocument/2006/relationships/image" Target="../media/image5.png"/>
  
  
  
  
  <Relationship Id="rId6" Type="http://schemas.openxmlformats.org/officeDocument/2006/relationships/image" Target="../media/image11.png"/>
  
  
  
  
  <Relationship Id="rId7" Type="http://schemas.openxmlformats.org/officeDocument/2006/relationships/image" Target="../media/image10.png"/>
  
  
  
  
  <Relationship Id="rId8" Type="http://schemas.openxmlformats.org/officeDocument/2006/relationships/image" Target="../media/image14.png"/>
  
  
  
  
  <Relationship Id="rId9" Type="http://schemas.openxmlformats.org/officeDocument/2006/relationships/image" Target="../media/image12.png"/>
  
  
  
  
  <Relationship Id="rId10" Type="http://schemas.openxmlformats.org/officeDocument/2006/relationships/image" Target="../media/image3.png"/>
  
  
  
  
  <Relationship Id="rId11" Type="http://schemas.openxmlformats.org/officeDocument/2006/relationships/image" Target="../media/image4.png"/>
  
  


</Relationships>

</file>

<file path=ppt/slides/_rels/slide5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5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2.png"/>
  
  
  
  
  <Relationship Id="rId5" Type="http://schemas.openxmlformats.org/officeDocument/2006/relationships/image" Target="../media/image5.png"/>
  
  
  
  
  <Relationship Id="rId6" Type="http://schemas.openxmlformats.org/officeDocument/2006/relationships/image" Target="../media/image11.png"/>
  
  
  
  
  <Relationship Id="rId7" Type="http://schemas.openxmlformats.org/officeDocument/2006/relationships/image" Target="../media/image10.png"/>
  
  
  
  
  <Relationship Id="rId8" Type="http://schemas.openxmlformats.org/officeDocument/2006/relationships/image" Target="../media/image14.png"/>
  
  
  
  
  <Relationship Id="rId9" Type="http://schemas.openxmlformats.org/officeDocument/2006/relationships/image" Target="../media/image12.png"/>
  
  
  
  
  <Relationship Id="rId10" Type="http://schemas.openxmlformats.org/officeDocument/2006/relationships/image" Target="../media/image3.png"/>
  
  
  
  
  <Relationship Id="rId11" Type="http://schemas.openxmlformats.org/officeDocument/2006/relationships/image" Target="../media/image4.png"/>
  
  


</Relationships>

</file>

<file path=ppt/slides/_rels/slide6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6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8.png"/>
  
  


</Relationships>

</file>

<file path=ppt/slides/_rels/slide7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7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8.png"/>
  
  


</Relationships>

</file>

<file path=ppt/slides/_rels/slide8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8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8.png"/>
  
  


</Relationships>

</file>

<file path=ppt/slides/_rels/slide9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9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8.png"/>
  
  


</Relationships>

</file>

<file path=ppt/slides/_rels/slide10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10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2.png"/>
  
  
  
  
  <Relationship Id="rId11" Type="http://schemas.openxmlformats.org/officeDocument/2006/relationships/image" Target="../media/image4.png"/>
  
  
  
  
  <Relationship Id="rId10" Type="http://schemas.openxmlformats.org/officeDocument/2006/relationships/image" Target="../media/image3.png"/>
  
  
  
  
  <Relationship Id="rId9" Type="http://schemas.openxmlformats.org/officeDocument/2006/relationships/image" Target="../media/image12.png"/>
  
  
  
  
  <Relationship Id="rId5" Type="http://schemas.openxmlformats.org/officeDocument/2006/relationships/image" Target="../media/image5.png"/>
  
  
  
  
  <Relationship Id="rId6" Type="http://schemas.openxmlformats.org/officeDocument/2006/relationships/image" Target="../media/image11.png"/>
  
  
  
  
  <Relationship Id="rId7" Type="http://schemas.openxmlformats.org/officeDocument/2006/relationships/image" Target="../media/image10.png"/>
  
  
  
  
  <Relationship Id="rId8" Type="http://schemas.openxmlformats.org/officeDocument/2006/relationships/image" Target="../media/image14.png"/>
  
  


</Relationships>

</file>

<file path=ppt/slides/_rels/slide11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11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7.png"/>
  
  
  
  
  <Relationship Id="rId5" Type="http://schemas.openxmlformats.org/officeDocument/2006/relationships/image" Target="../media/image6.png"/>
  
  
  
  
  <Relationship Id="rId6" Type="http://schemas.openxmlformats.org/officeDocument/2006/relationships/image" Target="../media/image13.png"/>
  
  


</Relationships>

</file>

<file path=ppt/slides/_rels/slide12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12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9.png"/>
  
  


</Relationships>

</file>

<file path=ppt/slides/_rels/slide13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  
  
  
  <Relationship Id="rId2" Type="http://schemas.openxmlformats.org/officeDocument/2006/relationships/notesSlide" Target="../notesSlides/notesSlide13.xml"/>
  
  
  
  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15.png"/>
  
  
  
  
  <Relationship Id="rId5" Type="http://schemas.openxmlformats.org/officeDocument/2006/relationships/hyperlink" Target="http://multipurposethemes.com" TargetMode="External"/>
  
  


</Relationships>

</file>

<file path=ppt/slides/_rels/slide14.xml.rels><?xml version="1.0" encoding="utf-8"?>
<Relationships xmlns="http://schemas.openxmlformats.org/package/2006/relationships">
  
  
  
  
  <Relationship Id="rId1" Type="http://schemas.openxmlformats.org/officeDocument/2006/relationships/slideLayout" Target="../slideLayouts/slideLayout1.xml"/>
  

  <Relationship Id="rId3" Type="http://schemas.openxmlformats.org/officeDocument/2006/relationships/image" Target="../media/image1.png"/>
  
  
  
  
  <Relationship Id="rId4" Type="http://schemas.openxmlformats.org/officeDocument/2006/relationships/image" Target="../media/image2.png"/>
  
  
  
  
  <Relationship Id="rId5" Type="http://schemas.openxmlformats.org/officeDocument/2006/relationships/image" Target="../media/image5.png"/>
  
  
  
  
  <Relationship Id="rId6" Type="http://schemas.openxmlformats.org/officeDocument/2006/relationships/image" Target="../media/image11.png"/>
  
  
  
  
  <Relationship Id="rId7" Type="http://schemas.openxmlformats.org/officeDocument/2006/relationships/image" Target="../media/image10.png"/>
  
  
  
  
  <Relationship Id="rId8" Type="http://schemas.openxmlformats.org/officeDocument/2006/relationships/image" Target="../media/image14.png"/>
  
  
  
  
  <Relationship Id="rId9" Type="http://schemas.openxmlformats.org/officeDocument/2006/relationships/image" Target="../media/image12.png"/>
  
  
  
  
  <Relationship Id="rId10" Type="http://schemas.openxmlformats.org/officeDocument/2006/relationships/image" Target="../media/image3.png"/>
  
  
  
  
  <Relationship Id="rId11" Type="http://schemas.openxmlformats.org/officeDocument/2006/relationships/image" Target="../media/image4.png"/>
  
  


</Relationships>
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19287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Medical </a:t>
            </a:r>
            <a:r>
              <a:rPr b="0" i="0" lang="en-US" sz="5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VQA</a:t>
            </a:r>
            <a:r>
              <a:rPr b="0" i="0" lang="en-US" sz="5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 Classification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79558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Multimodal Fusion &amp; Pretrained Baselines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814762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Group Presentation | Team [Name]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0020300" y="38100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1: 2.5 MINS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Placeholder: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Introduction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786187" y="3609975"/>
            <a:ext cx="4619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Content to be added by Speaker 1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0020300" y="38100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1: 2.5 MINS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Placeholder: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Problem Statement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786187" y="3609975"/>
            <a:ext cx="46196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Content to be added by Speaker 1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Full background image -->
      <p:pic>
        <p:nvPicPr>
          <p:cNvPr descr="image.png"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!-- Column 1 card background -->
      <p:pic>
        <p:nvPicPr>
          <p:cNvPr descr="image.png" id="202" name="Google Shape;2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Column 2 card background -->
      <p:pic>
        <p:nvPicPr>
          <p:cNvPr descr="image.png" id="203" name="Google Shape;20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Column 3 card background -->
      <p:pic>
        <p:nvPicPr>
          <p:cNvPr descr="image.png" id="204" name="Google Shape;2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Speaker label -->
      <p:sp>
        <p:nvSpPr>
          <p:cNvPr id="205" name="Google Shape;205;p16"/>
          <p:cNvSpPr txBox="1"/>
          <p:nvPr/>
        </p:nvSpPr>
        <p:spPr>
          <a:xfrm>
            <a:off x="8096175" y="381000"/>
            <a:ext cx="3524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2: PHUONG HO | 2.5 MINS</a:t>
            </a:r>
            <a:endParaRPr/>
          </a:p>
        </p:txBody>
      </p:sp>
      <!-- Slide title -->
      <p:sp>
        <p:nvSpPr>
          <p:cNvPr id="206" name="Google Shape;206;p16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Baseline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Models</a:t>
            </a:r>
            <a:endParaRPr/>
          </a:p>
        </p:txBody>
      </p:sp>
      <!-- Col 1 icon -->
      <p:pic>
        <p:nvPicPr>
          <p:cNvPr descr="image.png" id="207" name="Google Shape;20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1 header -->
      <p:sp>
        <p:nvSpPr>
          <p:cNvPr id="208" name="Google Shape;208;p16"/>
          <p:cNvSpPr txBox="1"/>
          <p:nvPr/>
        </p:nvSpPr>
        <p:spPr>
          <a:xfrm>
            <a:off x="91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Text Classifier</a:t>
            </a:r>
            <a:endParaRPr/>
          </a:p>
        </p:txBody>
      </p:sp>
      <!-- Col 1 body -->
      <p:sp>
        <p:nvSpPr>
          <p:cNvPr id="209" name="Google Shape;209;p16"/>
          <p:cNvSpPr txBox="1"/>
          <p:nvPr/>
        </p:nvSpPr>
        <p:spPr>
          <a:xfrm>
            <a:off x="91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TF-IDF bigrams on question text.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SVM (best):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Acc 68.9%, AUC-ROC 0.75. Question wording alone carries useful signal.</a:t>
            </a:r>
            <a:endParaRPr/>
          </a:p>
        </p:txBody>
      </p:sp>
      <!-- Col 2 icon -->
      <p:pic>
        <p:nvPicPr>
          <p:cNvPr descr="image.png" id="210" name="Google Shape;21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2 header -->
      <p:sp>
        <p:nvSpPr>
          <p:cNvPr id="211" name="Google Shape;211;p16"/>
          <p:cNvSpPr txBox="1"/>
          <p:nvPr/>
        </p:nvSpPr>
        <p:spPr>
          <a:xfrm>
            <a:off x="472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Image-Only CNN</a:t>
            </a:r>
            <a:endParaRPr/>
          </a:p>
        </p:txBody>
      </p:sp>
      <!-- Col 2 body -->
      <p:sp>
        <p:nvSpPr>
          <p:cNvPr id="212" name="Google Shape;212;p16"/>
          <p:cNvSpPr txBox="1"/>
          <p:nvPr/>
        </p:nvSpPr>
        <p:spPr>
          <a:xfrm>
            <a:off x="472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ResNet-18 pretrained on ImageNet. Layer4 unfrozen to adapt to medical image features. Handles mixed modalities (X-ray, MRI, CT).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Acc 72.6%, F1 0.75, AUC-ROC 0.77.</a:t>
            </a:r>
            <a:endParaRPr/>
          </a:p>
        </p:txBody>
      </p:sp>
      <!-- Col 3 icon -->
      <p:pic>
        <p:nvPicPr>
          <p:cNvPr descr="image.png" id="213" name="Google Shape;21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3 header -->
      <p:sp>
        <p:nvSpPr>
          <p:cNvPr id="214" name="Google Shape;214;p16"/>
          <p:cNvSpPr txBox="1"/>
          <p:nvPr/>
        </p:nvSpPr>
        <p:spPr>
          <a:xfrm>
            <a:off x="853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Observation</a:t>
            </a:r>
            <a:endParaRPr/>
          </a:p>
        </p:txBody>
      </p:sp>
      <!-- Col 3 body -->
      <p:sp>
        <p:nvSpPr>
          <p:cNvPr id="215" name="Google Shape;215;p16"/>
          <p:cNvSpPr txBox="1"/>
          <p:nvPr/>
        </p:nvSpPr>
        <p:spPr>
          <a:xfrm>
            <a:off x="853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Images outperform text alone. Both modalities are limited individually — motivating a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multimodal fusion approach.</a:t>
            </a:r>
            <a:endParaRPr/>
          </a:p>
        </p:txBody>
      </p:sp>
      <!-- Small indicators -->
      <p:pic>
        <p:nvPicPr>
          <p:cNvPr descr="image.png" id="216" name="Google Shape;21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812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5850" y="24812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1562" y="2481262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Full background image -->
      <p:pic>
        <p:nvPicPr>
          <p:cNvPr descr="image.png" id="301" name="Google Shape;3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!-- Column 1 card -->
      <p:pic>
        <p:nvPicPr>
          <p:cNvPr descr="image.png" id="302" name="Google Shape;3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Column 2 card -->
      <p:pic>
        <p:nvPicPr>
          <p:cNvPr descr="image.png" id="303" name="Google Shape;3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Column 3 card -->
      <p:pic>
        <p:nvPicPr>
          <p:cNvPr descr="image.png" id="304" name="Google Shape;3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Speaker label -->
      <p:sp>
        <p:nvSpPr>
          <p:cNvPr id="305" name="Google Shape;305;p17"/>
          <p:cNvSpPr txBox="1"/>
          <p:nvPr/>
        </p:nvSpPr>
        <p:spPr>
          <a:xfrm>
            <a:off x="8096175" y="381000"/>
            <a:ext cx="3524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2: PHUONG HO | 2.5 MINS</a:t>
            </a:r>
            <a:endParaRPr/>
          </a:p>
        </p:txBody>
      </p:sp>
      <!-- Slide title -->
      <p:sp>
        <p:nvSpPr>
          <p:cNvPr id="306" name="Google Shape;306;p17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Fusion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</a:t>
            </a:r>
            <a:endParaRPr/>
          </a:p>
        </p:txBody>
      </p:sp>
      <!-- Col 1 icon -->
      <p:pic>
        <p:nvPicPr>
          <p:cNvPr descr="image.png" id="307" name="Google Shape;30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1 header: Image Encoder -->
      <p:sp>
        <p:nvSpPr>
          <p:cNvPr id="308" name="Google Shape;308;p17"/>
          <p:cNvSpPr txBox="1"/>
          <p:nvPr/>
        </p:nvSpPr>
        <p:spPr>
          <a:xfrm>
            <a:off x="91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Encoder</a:t>
            </a:r>
            <a:endParaRPr/>
          </a:p>
        </p:txBody>
      </p:sp>
      <!-- Col 1 body -->
      <p:sp>
        <p:nvSpPr>
          <p:cNvPr id="309" name="Google Shape;309;p17"/>
          <p:cNvSpPr txBox="1"/>
          <p:nvPr/>
        </p:nvSpPr>
        <p:spPr>
          <a:xfrm>
            <a:off x="91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ResNet-18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pretrained on ImageNet. Layer4 unfrozen for task-specific adaptation. Outputs a 512-dim feature vector via global avg pool.</a:t>
            </a:r>
            <a:endParaRPr/>
          </a:p>
        </p:txBody>
      </p:sp>
      <!-- Col 2 icon -->
      <p:pic>
        <p:nvPicPr>
          <p:cNvPr descr="image.png" id="310" name="Google Shape;31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2 header: Text Encoder -->
      <p:sp>
        <p:nvSpPr>
          <p:cNvPr id="311" name="Google Shape;311;p17"/>
          <p:cNvSpPr txBox="1"/>
          <p:nvPr/>
        </p:nvSpPr>
        <p:spPr>
          <a:xfrm>
            <a:off x="472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Text Encoder</a:t>
            </a:r>
            <a:endParaRPr/>
          </a:p>
        </p:txBody>
      </p:sp>
      <!-- Col 2 body -->
      <p:sp>
        <p:nvSpPr>
          <p:cNvPr id="312" name="Google Shape;312;p17"/>
          <p:cNvSpPr txBox="1"/>
          <p:nvPr/>
        </p:nvSpPr>
        <p:spPr>
          <a:xfrm>
            <a:off x="472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Frozen CLIP text encoder (openai/clip-vit-base-patch32).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Encodes question text into 512-dim embeddings. Concat with image features → Linear(256) → binary yes/no output.</a:t>
            </a:r>
            <a:endParaRPr/>
          </a:p>
        </p:txBody>
      </p:sp>
      <!-- Col 3 icon -->
      <p:pic>
        <p:nvPicPr>
          <p:cNvPr descr="image.png" id="313" name="Google Shape;31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3 header: Results -->
      <p:sp>
        <p:nvSpPr>
          <p:cNvPr id="314" name="Google Shape;314;p17"/>
          <p:cNvSpPr txBox="1"/>
          <p:nvPr/>
        </p:nvSpPr>
        <p:spPr>
          <a:xfrm>
            <a:off x="853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Results</a:t>
            </a:r>
            <a:endParaRPr/>
          </a:p>
        </p:txBody>
      </p:sp>
      <!-- Col 3 body -->
      <p:sp>
        <p:nvSpPr>
          <p:cNvPr id="315" name="Google Shape;315;p17"/>
          <p:cNvSpPr txBox="1"/>
          <p:nvPr/>
        </p:nvSpPr>
        <p:spPr>
          <a:xfrm>
            <a:off x="853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Acc 75.8% | F1 0.77 | AUC-ROC 0.82 (+3pp over image-only)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Fusion outperforms both baselines — combining vision and language is key for medical VQA.</a:t>
            </a:r>
            <a:endParaRPr/>
          </a:p>
        </p:txBody>
      </p:sp>
      <!-- Small indicators -->
      <p:pic>
        <p:nvPicPr>
          <p:cNvPr descr="image.png" id="316" name="Google Shape;31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812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5850" y="24812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1562" y="2481262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10001250" y="381000"/>
            <a:ext cx="1619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3: 2.5 MINS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Placeholder: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Preprocessing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3748087" y="3609975"/>
            <a:ext cx="4695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Content to be added by Speaker 3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10001250" y="381000"/>
            <a:ext cx="1619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3: 2.5 MINS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Placeholder: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Implementation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3748087" y="3609975"/>
            <a:ext cx="4695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Content to be added by Speaker 3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10001250" y="381000"/>
            <a:ext cx="1619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3: 2.5 MINS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Placeholder: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Validation Set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3748087" y="3609975"/>
            <a:ext cx="4695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Content to be added by Speaker 3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104900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10001250" y="381000"/>
            <a:ext cx="1619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3: 2.5 MINS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Placeholder: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Technical Challenges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3748087" y="3609975"/>
            <a:ext cx="46958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Content to be added by Speaker 3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8829675" y="381000"/>
            <a:ext cx="2790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4: SANA AZHAR | 2.5 MINS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Evaluation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Approach</a:t>
            </a:r>
            <a:endParaRPr/>
          </a:p>
        </p:txBody>
      </p:sp>
      <p:pic>
        <p:nvPicPr>
          <p:cNvPr descr="image.png" id="170" name="Google Shape;17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91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Automated Pipeline</a:t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914400" y="3538537"/>
            <a:ext cx="2743200" cy="1590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Developed evaluate.py and plot_result.py to ensure reproducible and immediate benchmarking for all model iterations.</a:t>
            </a:r>
            <a:endParaRPr/>
          </a:p>
        </p:txBody>
      </p:sp>
      <p:pic>
        <p:nvPicPr>
          <p:cNvPr descr="image.png" id="173" name="Google Shape;17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472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Standardized Metrics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4724400" y="3538537"/>
            <a:ext cx="27432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Focused on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ROC-AUC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and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F1-Score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to handle class imbalance, providing a more reliable clinical score than simple accuracy.</a:t>
            </a:r>
            <a:endParaRPr/>
          </a:p>
        </p:txBody>
      </p:sp>
      <p:pic>
        <p:nvPicPr>
          <p:cNvPr descr="image.png" id="176" name="Google Shape;17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53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 Analytics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8534400" y="3538537"/>
            <a:ext cx="27432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Integrated automated ROC curve plotting to visualize the tradeoff between clinical sensitivity and specificity for diagnostic support.</a:t>
            </a:r>
            <a:endParaRPr/>
          </a:p>
        </p:txBody>
      </p:sp>
      <p:pic>
        <p:nvPicPr>
          <p:cNvPr descr="image.png" id="179" name="Google Shape;17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812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5850" y="24812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1562" y="2481262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87128"/>
            <a:ext cx="5286375" cy="4007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87128"/>
            <a:ext cx="5286375" cy="40076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8829675" y="381000"/>
            <a:ext cx="2790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4: SANA AZHAR | 2.5 MINS</a:t>
            </a:r>
            <a:endParaRPr/>
          </a:p>
        </p:txBody>
      </p:sp>
      <p:sp>
        <p:nvSpPr>
          <p:cNvPr id="190" name="Google Shape;190;p23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Performance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Results</a:t>
            </a:r>
            <a:endParaRPr/>
          </a:p>
        </p:txBody>
      </p:sp>
      <p:pic>
        <p:nvPicPr>
          <p:cNvPr descr="image.png" id="191" name="Google Shape;19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96653"/>
            <a:ext cx="5267325" cy="398859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 txBox="1"/>
          <p:nvPr/>
        </p:nvSpPr>
        <p:spPr>
          <a:xfrm>
            <a:off x="571500" y="3263503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Comparisons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914400" y="3739753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952500" y="373975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Baseline ROC-AUC: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0.75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914400" y="405407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952500" y="4054078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Fusion Model ROC-AUC: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0.89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914400" y="4368403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952500" y="4368403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Fusion provides a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12% lift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in accuracy.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8829675" y="381000"/>
            <a:ext cx="2790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4: SANA AZHAR | 2.5 MINS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Conclusion &amp;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Takeaways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1066800" y="3152775"/>
            <a:ext cx="23431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+12%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1676400" y="4200525"/>
            <a:ext cx="112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Accuracy Lift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5562600" y="2109787"/>
            <a:ext cx="63607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Main Message</a:t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5562600" y="2576512"/>
            <a:ext cx="60579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The Fusion Model confirms that textual question context is </a:t>
            </a: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vital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for interpreting medical scans. Vision alone is not enough for complex reasoning.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5562600" y="3900487"/>
            <a:ext cx="63607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Roadmap to May 10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905500" y="437673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5943600" y="4376737"/>
            <a:ext cx="5676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Finalize test set run with Phuong's real data.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5905500" y="469106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5943600" y="4691062"/>
            <a:ext cx="5676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Generate final tables and ROC curves.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905500" y="500538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5943600" y="5005387"/>
            <a:ext cx="5676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Submit 4-6 page report PDF and Codebase.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pic>
        <p:nvPicPr>
          <p:cNvPr descr="image.png" id="224" name="Google Shape;2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52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1666875" y="35599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https://multipurposethemes.com/wp-content/uploads/2024/10/Powerful-Dark-Mode-Hospital-Dashboard-for-Medical-Facilities-1.jpg</a:t>
            </a:r>
            <a:endParaRPr/>
          </a:p>
        </p:txBody>
      </p:sp>
      <p:sp>
        <p:nvSpPr>
          <p:cNvPr id="226" name="Google Shape;226;p25"/>
          <p:cNvSpPr txBox="1"/>
          <p:nvPr/>
        </p:nvSpPr>
        <p:spPr>
          <a:xfrm>
            <a:off x="1666875" y="3793331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Source: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5"/>
              </a:rPr>
              <a:t>multipurposethemes.com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Full background image -->
      <p:pic>
        <p:nvPicPr>
          <p:cNvPr descr="image.png" id="301" name="Google Shape;3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!-- Column 1 card -->
      <p:pic>
        <p:nvPicPr>
          <p:cNvPr descr="image.png" id="302" name="Google Shape;30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Column 2 card -->
      <p:pic>
        <p:nvPicPr>
          <p:cNvPr descr="image.png" id="303" name="Google Shape;30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Column 3 card -->
      <p:pic>
        <p:nvPicPr>
          <p:cNvPr descr="image.png" id="304" name="Google Shape;3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66912"/>
            <a:ext cx="3429000" cy="3648075"/>
          </a:xfrm>
          <a:prstGeom prst="rect">
            <a:avLst/>
          </a:prstGeom>
          <a:noFill/>
          <a:ln>
            <a:noFill/>
          </a:ln>
        </p:spPr>
      </p:pic>
      <!-- Speaker label -->
      <p:sp>
        <p:nvSpPr>
          <p:cNvPr id="305" name="Google Shape;305;p17"/>
          <p:cNvSpPr txBox="1"/>
          <p:nvPr/>
        </p:nvSpPr>
        <p:spPr>
          <a:xfrm>
            <a:off x="8096175" y="381000"/>
            <a:ext cx="35243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SPEAKER 2: PHUONG HO | 2.5 MINS</a:t>
            </a:r>
            <a:endParaRPr/>
          </a:p>
        </p:txBody>
      </p:sp>
      <!-- Slide title -->
      <p:sp>
        <p:nvSpPr>
          <p:cNvPr id="306" name="Google Shape;306;p17"/>
          <p:cNvSpPr txBox="1"/>
          <p:nvPr/>
        </p:nvSpPr>
        <p:spPr>
          <a:xfrm>
            <a:off x="571500" y="28575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Improving the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Fusion</a:t>
            </a:r>
            <a:endParaRPr/>
          </a:p>
        </p:txBody>
      </p:sp>
      <!-- Col 1 icon -->
      <p:pic>
        <p:nvPicPr>
          <p:cNvPr descr="image.png" id="307" name="Google Shape;30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1 header: Image Encoder -->
      <p:sp>
        <p:nvSpPr>
          <p:cNvPr id="308" name="Google Shape;308;p17"/>
          <p:cNvSpPr txBox="1"/>
          <p:nvPr/>
        </p:nvSpPr>
        <p:spPr>
          <a:xfrm>
            <a:off x="91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What We Tried</a:t>
            </a:r>
            <a:endParaRPr/>
          </a:p>
        </p:txBody>
      </p:sp>
      <!-- Col 1 body -->
      <p:sp>
        <p:nvSpPr>
          <p:cNvPr id="309" name="Google Shape;309;p17"/>
          <p:cNvSpPr txBox="1"/>
          <p:nvPr/>
        </p:nvSpPr>
        <p:spPr>
          <a:xfrm>
            <a:off x="91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CheXNet (DenseNet-121) as image encoder, BioBERT as text encoder.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CheXNet trained on 100k+ chest X-rays for medical image features. BioBERT pretrained on PubMed + PMC for medical language understanding.</a:t>
            </a:r>
            <a:endParaRPr/>
          </a:p>
        </p:txBody>
      </p:sp>
      <!-- Col 2 icon -->
      <p:pic>
        <p:nvPicPr>
          <p:cNvPr descr="image.png" id="310" name="Google Shape;31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2 header: Text Encoder -->
      <p:sp>
        <p:nvSpPr>
          <p:cNvPr id="311" name="Google Shape;311;p17"/>
          <p:cNvSpPr txBox="1"/>
          <p:nvPr/>
        </p:nvSpPr>
        <p:spPr>
          <a:xfrm>
            <a:off x="472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Why It Failed</a:t>
            </a:r>
            <a:endParaRPr/>
          </a:p>
        </p:txBody>
      </p:sp>
      <!-- Col 2 body -->
      <p:sp>
        <p:nvSpPr>
          <p:cNvPr id="312" name="Google Shape;312;p17"/>
          <p:cNvSpPr txBox="1"/>
          <p:nvPr/>
        </p:nvSpPr>
        <p:spPr>
          <a:xfrm>
            <a:off x="472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Dataset mismatch.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The dataset contains mixed modalities (X-ray, MRI, CT, ultrasound). CheXNet only understands chest X-rays — its features are meaningless for other types. Val Acc stuck at 58.9%.</a:t>
            </a:r>
            <a:endParaRPr/>
          </a:p>
        </p:txBody>
      </p:sp>
      <!-- Col 3 icon -->
      <p:pic>
        <p:nvPicPr>
          <p:cNvPr descr="image.png" id="313" name="Google Shape;31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344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!-- Col 3 header: Results -->
      <p:sp>
        <p:nvSpPr>
          <p:cNvPr id="314" name="Google Shape;314;p17"/>
          <p:cNvSpPr txBox="1"/>
          <p:nvPr/>
        </p:nvSpPr>
        <p:spPr>
          <a:xfrm>
            <a:off x="8534400" y="3071812"/>
            <a:ext cx="28803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Final Approach</a:t>
            </a:r>
            <a:endParaRPr/>
          </a:p>
        </p:txBody>
      </p:sp>
      <!-- Col 3 body -->
      <p:sp>
        <p:nvSpPr>
          <p:cNvPr id="315" name="Google Shape;315;p17"/>
          <p:cNvSpPr txBox="1"/>
          <p:nvPr/>
        </p:nvSpPr>
        <p:spPr>
          <a:xfrm>
            <a:off x="8534400" y="3490537"/>
            <a:ext cx="2743200" cy="1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Acc 77.9% | F1 0.78 | AUC-ROC 0.82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 xml:space="preserve"> Kept ResNet-18 (generalizes across all modalities), upgraded text to BioBERT with mean pooling. Best model overall — +2.1pp accuracy over CLIP fusion.</a:t>
            </a:r>
            <a:endParaRPr/>
          </a:p>
        </p:txBody>
      </p:sp>
      <!-- Small indicators -->
      <p:pic>
        <p:nvPicPr>
          <p:cNvPr descr="image.png" id="316" name="Google Shape;31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812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5850" y="24812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1562" y="2481262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